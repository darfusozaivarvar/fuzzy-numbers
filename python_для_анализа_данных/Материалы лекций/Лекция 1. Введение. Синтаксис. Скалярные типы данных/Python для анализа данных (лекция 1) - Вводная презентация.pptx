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9144000"/>
  <p:embeddedFontLst>
    <p:embeddedFont>
      <p:font typeface="Play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iDobVPXgbdVlOFbgqQtHZyYhfk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font" Target="fonts/Play-regular.fnt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24" Type="http://customschemas.google.com/relationships/presentationmetadata" Target="metadata"/><Relationship Id="rId12" Type="http://schemas.openxmlformats.org/officeDocument/2006/relationships/slide" Target="slides/slide8.xml"/><Relationship Id="rId23" Type="http://schemas.openxmlformats.org/officeDocument/2006/relationships/font" Target="fonts/Play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17" name="Google Shape;11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hyperlink" Target="mailto:kharlamov@misis.ru" TargetMode="External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cture background" id="89" name="Google Shape;89;p1"/>
          <p:cNvPicPr preferRelativeResize="0"/>
          <p:nvPr/>
        </p:nvPicPr>
        <p:blipFill rotWithShape="1">
          <a:blip r:embed="rId3">
            <a:alphaModFix/>
          </a:blip>
          <a:srcRect b="-1" l="4286" r="25054" t="-1"/>
          <a:stretch/>
        </p:blipFill>
        <p:spPr>
          <a:xfrm>
            <a:off x="5152596" y="10"/>
            <a:ext cx="7039404" cy="6857990"/>
          </a:xfrm>
          <a:custGeom>
            <a:rect b="b" l="l" r="r" t="t"/>
            <a:pathLst>
              <a:path extrusionOk="0" h="6858000" w="8081873">
                <a:moveTo>
                  <a:pt x="0" y="0"/>
                </a:moveTo>
                <a:lnTo>
                  <a:pt x="8081873" y="0"/>
                </a:lnTo>
                <a:lnTo>
                  <a:pt x="8081873" y="6858000"/>
                </a:lnTo>
                <a:lnTo>
                  <a:pt x="0" y="6858000"/>
                </a:lnTo>
                <a:lnTo>
                  <a:pt x="68897" y="6734633"/>
                </a:lnTo>
                <a:cubicBezTo>
                  <a:pt x="558802" y="5812845"/>
                  <a:pt x="848920" y="4668597"/>
                  <a:pt x="848920" y="3429000"/>
                </a:cubicBezTo>
                <a:cubicBezTo>
                  <a:pt x="848920" y="2189404"/>
                  <a:pt x="558802" y="1045156"/>
                  <a:pt x="68897" y="123368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73206" y="1658556"/>
            <a:ext cx="5075094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2500" lnSpcReduction="2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Python для анализа данных</a:t>
            </a:r>
            <a:b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Харламов Николай Александрович</a:t>
            </a:r>
            <a: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,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0" i="0" lang="ru-RU" sz="2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к.т.н.</a:t>
            </a:r>
            <a: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, </a:t>
            </a:r>
            <a:r>
              <a:rPr b="0" i="0" lang="ru-RU" sz="2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доцент кафедры АСУ</a:t>
            </a:r>
            <a:b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b="0" i="0" lang="ru-RU" sz="2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b="0" i="0" lang="ru-RU" sz="2200" u="sng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kharlamov@misis.ru</a:t>
            </a:r>
            <a:endParaRPr b="0" i="0" sz="22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0" i="0" lang="ru-RU" sz="2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+7-916-883-41-83</a:t>
            </a:r>
            <a:br>
              <a:rPr b="0" i="0" lang="ru-RU" sz="2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b="0" i="0" lang="ru-RU" sz="19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endParaRPr b="0" i="0" sz="19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206" y="4578632"/>
            <a:ext cx="1770559" cy="1745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idx="1" type="body"/>
          </p:nvPr>
        </p:nvSpPr>
        <p:spPr>
          <a:xfrm>
            <a:off x="838200" y="224937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 sz="3200"/>
              <a:t>Что такое анализ данных?</a:t>
            </a:r>
            <a:endParaRPr sz="3200"/>
          </a:p>
          <a:p>
            <a:pPr indent="-228600" lvl="0" marL="2286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ru-RU" sz="3200"/>
              <a:t>Какого рода данные будем использовать?</a:t>
            </a:r>
            <a:endParaRPr sz="3200"/>
          </a:p>
        </p:txBody>
      </p:sp>
      <p:sp>
        <p:nvSpPr>
          <p:cNvPr id="98" name="Google Shape;98;p2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/>
              <a:t>О чем этот курс?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3"/>
          <p:cNvPicPr preferRelativeResize="0"/>
          <p:nvPr/>
        </p:nvPicPr>
        <p:blipFill rotWithShape="1">
          <a:blip r:embed="rId3">
            <a:alphaModFix/>
          </a:blip>
          <a:srcRect b="6042" l="0" r="0" t="0"/>
          <a:stretch/>
        </p:blipFill>
        <p:spPr>
          <a:xfrm>
            <a:off x="1003610" y="959562"/>
            <a:ext cx="10211405" cy="29269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56516" y="3843846"/>
            <a:ext cx="6189257" cy="3014154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3"/>
          <p:cNvSpPr txBox="1"/>
          <p:nvPr/>
        </p:nvSpPr>
        <p:spPr>
          <a:xfrm>
            <a:off x="1083527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Направления в аналитике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lang="ru-RU" sz="3600"/>
              <a:t>О чем курс «Python для анализа данных»?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838200" y="132556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ru-RU" sz="2600"/>
              <a:t>Работать мы будем работать со </a:t>
            </a:r>
            <a:r>
              <a:rPr b="1" lang="ru-RU" sz="2600">
                <a:solidFill>
                  <a:srgbClr val="FF0000"/>
                </a:solidFill>
              </a:rPr>
              <a:t>структурированными данными: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lang="ru-RU" sz="2600"/>
              <a:t>табличные данные, когда данные в  разных столбцах могут иметь разный тип (строки, числа, даты или еще что-то);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lang="ru-RU" sz="2600"/>
              <a:t>многомерные списки (матрицы);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-"/>
            </a:pPr>
            <a:r>
              <a:rPr lang="ru-RU" sz="2600"/>
              <a:t>равноотстоящие и неравноотстоящие временные ряды.</a:t>
            </a:r>
            <a:endParaRPr/>
          </a:p>
          <a:p>
            <a:pPr indent="-762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838200" y="174349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None/>
            </a:pPr>
            <a:r>
              <a:rPr b="1" lang="ru-RU" sz="2400">
                <a:solidFill>
                  <a:srgbClr val="FF0000"/>
                </a:solidFill>
              </a:rPr>
              <a:t>Цель курса </a:t>
            </a:r>
            <a:r>
              <a:rPr lang="ru-RU" sz="2400"/>
              <a:t>– предложить руководство по тем частям языка программирования Python и экосистемы его библиотек и  инструментов, относящихся к  обработке данных, которые помогут вам стать хорошим аналитиком данных. </a:t>
            </a:r>
            <a:endParaRPr sz="3600"/>
          </a:p>
        </p:txBody>
      </p:sp>
      <p:sp>
        <p:nvSpPr>
          <p:cNvPr id="120" name="Google Shape;120;p4"/>
          <p:cNvSpPr txBox="1"/>
          <p:nvPr/>
        </p:nvSpPr>
        <p:spPr>
          <a:xfrm>
            <a:off x="838200" y="0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</a:pPr>
            <a:r>
              <a:rPr b="0" i="0" lang="ru-RU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О чем курс «Python для анализа данных»?</a:t>
            </a:r>
            <a:endParaRPr/>
          </a:p>
        </p:txBody>
      </p:sp>
      <p:pic>
        <p:nvPicPr>
          <p:cNvPr id="121" name="Google Shape;12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type="title"/>
          </p:nvPr>
        </p:nvSpPr>
        <p:spPr>
          <a:xfrm>
            <a:off x="1395761" y="349520"/>
            <a:ext cx="3785513" cy="372885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ru-RU" sz="5200"/>
              <a:t>Почему Python?</a:t>
            </a:r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63048" y="0"/>
            <a:ext cx="672895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Почему Python?</a:t>
            </a:r>
            <a:endParaRPr/>
          </a:p>
        </p:txBody>
      </p:sp>
      <p:sp>
        <p:nvSpPr>
          <p:cNvPr id="135" name="Google Shape;135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Значительно превосходит Excel и Google sheets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Простой синтаксис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Большое сообщество, много готовых библиотек под самые разные задачи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Python как «клей»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Решение проблемы «двух языков»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Недостатки Python</a:t>
            </a:r>
            <a:endParaRPr/>
          </a:p>
        </p:txBody>
      </p:sp>
      <p:sp>
        <p:nvSpPr>
          <p:cNvPr id="142" name="Google Shape;142;p8"/>
          <p:cNvSpPr txBox="1"/>
          <p:nvPr>
            <p:ph idx="1" type="body"/>
          </p:nvPr>
        </p:nvSpPr>
        <p:spPr>
          <a:xfrm>
            <a:off x="838200" y="1825625"/>
            <a:ext cx="10515600" cy="4809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Python – великолепная среда для создания приложений для научных расчетов и большинства систем общего назначения, но тем не менее существуют задачи, для которых Python не очень подходит.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Поскольку Python – интерпретируемый язык программирования, в общем случае написанный на нем </a:t>
            </a:r>
            <a:r>
              <a:rPr lang="ru-RU">
                <a:solidFill>
                  <a:srgbClr val="FF0000"/>
                </a:solidFill>
              </a:rPr>
              <a:t>код работает значительно медленнее</a:t>
            </a:r>
            <a:r>
              <a:rPr lang="ru-RU"/>
              <a:t>, чем эквивалентный код на компилируемом языке типа Java или C++. 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ru-RU"/>
              <a:t>В приложениях, где задержка должна быть очень мала (например, в торговых системах с большим количеством транзакций), это бывает критически важно.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49" name="Google Shape;149;p9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Numpy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Matplotlib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Scikit –learn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Statmodels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50" name="Google Shape;1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9452" y="1690688"/>
            <a:ext cx="7497221" cy="49917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57" name="Google Shape;157;p10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ru-RU">
                <a:solidFill>
                  <a:srgbClr val="FF0000"/>
                </a:solidFill>
              </a:rPr>
              <a:t>Numpy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Matplotlib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Scikit –learn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Statmodels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8" name="Google Shape;158;p10"/>
          <p:cNvSpPr txBox="1"/>
          <p:nvPr/>
        </p:nvSpPr>
        <p:spPr>
          <a:xfrm>
            <a:off x="4170555" y="2141537"/>
            <a:ext cx="7527073" cy="424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«Numerical Python» – основной пакет для выполнения научных расчетов на Python. Как средство хранения и манипуляции данными массивы NumPy куда эффективнее встроенных в Python структур данных.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 числе прочего он предоставляет: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быстрый и эффективный объект многомерного массива ndarray;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функции для выполнения вычислений над элементами одного массива или математических операций с несколькими массивами;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средства для чтения и записи на диски наборов данных, представленных в виде массивов;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операции линейной алгебры, преобразование Фурье и генератор случайных чисел;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хороший C API, позволяющий обращаться к структурам данных и вычислительным средствам NumPy из расширений Python и кода на C или C++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65" name="Google Shape;165;p11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Numpy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ru-RU">
                <a:solidFill>
                  <a:srgbClr val="FF0000"/>
                </a:solidFill>
              </a:rPr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Matplotlib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Scikit –learn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Statmodels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66" name="Google Shape;166;p11"/>
          <p:cNvSpPr txBox="1"/>
          <p:nvPr/>
        </p:nvSpPr>
        <p:spPr>
          <a:xfrm>
            <a:off x="4170555" y="2141537"/>
            <a:ext cx="7527073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Библиотека pandas предоставляет структуры данных и функции, призванные сделать работу со структурированными данными простой и быстрой. С момента своего появления в 2010 году она способствовала превращению Python в мощную и продуктивную среду анализа данных.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Библиотека pandas сочетает высокую производительность средств работы с  массивами, присущую NumPy, с  гибкими возможностями манипулирования данными, свойственными электронным таблицам и реляционным базам данных (например, на основе SQL). Она предоставляет развитые средства индексирования, позволяющие без труда изменять форму наборов данных, формировать продольные и  поперечные срезы, выполнять агрегирование и  выбирать подмножества. Поскольку манипулирование данными, их подготовка и очистка играют огромное значение в анализе данных, в этом курсе библиотека pandas будет одним из основных инструментов.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73" name="Google Shape;173;p12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Numpy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ru-RU">
                <a:solidFill>
                  <a:srgbClr val="FF0000"/>
                </a:solidFill>
              </a:rPr>
              <a:t>Matplotlib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Scikit –learn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Statmodels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4" name="Google Shape;174;p12"/>
          <p:cNvSpPr txBox="1"/>
          <p:nvPr/>
        </p:nvSpPr>
        <p:spPr>
          <a:xfrm>
            <a:off x="4170555" y="2141537"/>
            <a:ext cx="7527073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Библиотека matplotlib – самый популярный в  Python инструмент для создания графиков и других способов визуализации двумерных данных, который сопровождается большой группой разработчиков. Она отлично подходит для создания графиков, пригодных для публикации.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Хотя программистам на Python доступны и другие библиотеки визуализации, matplotlib используется чаще всего и потому хорошо интегрирована с другими частями экосистемы. 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81" name="Google Shape;181;p13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Numpy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Matplotlib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ru-RU">
                <a:solidFill>
                  <a:srgbClr val="FF0000"/>
                </a:solidFill>
              </a:rPr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Scikit –learn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Statmodels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82" name="Google Shape;182;p13"/>
          <p:cNvSpPr txBox="1"/>
          <p:nvPr/>
        </p:nvSpPr>
        <p:spPr>
          <a:xfrm>
            <a:off x="4170555" y="1916549"/>
            <a:ext cx="7783552" cy="48013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SciPy – собрание пакетов, предназначенных для решения различных стандартных вычислительных задач, например: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scipy.integrate - подпрограммы численного интегрирования и  решения дифференциальных уравнений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scipy.linalg - подпрограммы линейной алгебры и разложения матриц, дополняющие те, что включены в numpy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scipy.optimize - алгоритмы оптимизации функций (нахождения минимумов) и  поиска корней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scipy.stats - стандартные непрерывные и  дискретные распределения вероятностей (функции плотности вероятности, формирования выборки, функции непрерывного распределения вероятности), различные статистические критерии и дополнительные описательные статистики.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Совместно NumPy и SciPy образуют достаточно полную замену значительной части системы MATLAB и многочисленных дополнений к ней.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Numpy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Matplotlib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ru-RU">
                <a:solidFill>
                  <a:srgbClr val="FF0000"/>
                </a:solidFill>
              </a:rPr>
              <a:t>Scikit –learn</a:t>
            </a:r>
            <a:endParaRPr>
              <a:solidFill>
                <a:srgbClr val="FF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Statmodels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0" name="Google Shape;190;p14"/>
          <p:cNvSpPr txBox="1"/>
          <p:nvPr/>
        </p:nvSpPr>
        <p:spPr>
          <a:xfrm>
            <a:off x="4170555" y="2141537"/>
            <a:ext cx="7527073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Scikit-learn, запущенный в 2007 году, с самого начала стал основным инструментарием машинного обучения для программистов на Python с огромным сообществом. В нем имеются подмодули для следующих моделей: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Классификация: метод опорных векторов, метод ближайших соседей, случайные леса, логистическая регрессия и т. д.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Регрессия: Lasso, гребневая регрессия и т. д.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Кластеризация: метод k-средних, спектральная кластеризация и т. д.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Понижение размерности: метод главных компонент, отбор признаков, матричная факторизация и т. д.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Выбор модели: поиск на сетке, перекрестный контроль, метрики. Предобработка: выделение признаков, нормировка.	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Необходимые нам библиотеки Python</a:t>
            </a:r>
            <a:endParaRPr/>
          </a:p>
        </p:txBody>
      </p:sp>
      <p:sp>
        <p:nvSpPr>
          <p:cNvPr id="197" name="Google Shape;197;p15"/>
          <p:cNvSpPr txBox="1"/>
          <p:nvPr>
            <p:ph idx="1" type="body"/>
          </p:nvPr>
        </p:nvSpPr>
        <p:spPr>
          <a:xfrm>
            <a:off x="838200" y="214153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Numpy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Pandas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Matplotlib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SciPy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ru-RU"/>
              <a:t>Scikit –learn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lang="ru-RU">
                <a:solidFill>
                  <a:srgbClr val="FF0000"/>
                </a:solidFill>
              </a:rPr>
              <a:t>Statmodels</a:t>
            </a:r>
            <a:endParaRPr>
              <a:solidFill>
                <a:srgbClr val="FF0000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4170555" y="1907508"/>
            <a:ext cx="7527073" cy="48193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 сравнению со scikit-learn, пакет statsmodels содержит алгоритмы классической (прежде всего частотной) статистики и эконометрики. Он включает следующие подмодули: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регрессионные модели: линейная регрессия, обобщенные линейные модели, робастные линейные модели, линейные модели со смешанными эффектами и т. д.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дисперсионный анализ 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анализ временных рядов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непараметрические методы: ядерная оценка плотности, ядерная регрессия</a:t>
            </a:r>
            <a:endParaRPr/>
          </a:p>
          <a:p>
            <a:pPr indent="-285750" lvl="0" marL="285750" marR="0" rtl="0" algn="l">
              <a:lnSpc>
                <a:spcPct val="107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-"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визуализация результатов статистического моделирования.	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Пакет statsmodels в большей степени ориентирован на статистический вывод, он дает оценки неопределенности                      и p-значения параметров. Напротив, scikit-learn ориентирован главным образом на предсказание.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Среда разработки Google Colab</a:t>
            </a:r>
            <a:endParaRPr/>
          </a:p>
        </p:txBody>
      </p:sp>
      <p:pic>
        <p:nvPicPr>
          <p:cNvPr id="205" name="Google Shape;20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8200" y="1690688"/>
            <a:ext cx="8612779" cy="5056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ru-RU"/>
              <a:t>Среда разработки Google Colab</a:t>
            </a:r>
            <a:endParaRPr/>
          </a:p>
        </p:txBody>
      </p:sp>
      <p:pic>
        <p:nvPicPr>
          <p:cNvPr id="212" name="Google Shape;21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57634"/>
            <a:ext cx="11353800" cy="5035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2024-04-22T14:06:12Z</dcterms:created>
  <dc:creator>Aslan Agabubaev</dc:creator>
</cp:coreProperties>
</file>